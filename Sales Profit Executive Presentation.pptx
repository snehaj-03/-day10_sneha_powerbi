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Sales (₹M)</c:v>
                </c:pt>
              </c:strCache>
            </c:strRef>
          </c:tx>
          <c:spPr>
            <a:ln w="38100" cap="flat">
              <a:solidFill>
                <a:srgbClr val="0E74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490"/>
              </a:solidFill>
              <a:ln w="9525" cap="flat">
                <a:solidFill>
                  <a:srgbClr val="0E749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  <c:pt idx="6">
                  <c:v>Q3 2025</c:v>
                </c:pt>
                <c:pt idx="7">
                  <c:v>Q4 2025</c:v>
                </c:pt>
                <c:pt idx="8">
                  <c:v>Q1 2026</c:v>
                </c:pt>
                <c:pt idx="9">
                  <c:v>Q2 2026*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32.5</c:v>
                </c:pt>
                <c:pt idx="1">
                  <c:v>39.700000000000003</c:v>
                </c:pt>
                <c:pt idx="2">
                  <c:v>38.4</c:v>
                </c:pt>
                <c:pt idx="3">
                  <c:v>40.4</c:v>
                </c:pt>
                <c:pt idx="4">
                  <c:v>33.700000000000003</c:v>
                </c:pt>
                <c:pt idx="5">
                  <c:v>40.9</c:v>
                </c:pt>
                <c:pt idx="6">
                  <c:v>39.200000000000003</c:v>
                </c:pt>
                <c:pt idx="7">
                  <c:v>41.5</c:v>
                </c:pt>
                <c:pt idx="8">
                  <c:v>34.6</c:v>
                </c:pt>
                <c:pt idx="9">
                  <c:v>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56C-40EB-A80D-9F84351EDF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in val="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Category-wise Total Sales (₹M)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2F-4B1F-A701-106F10DC07B2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2F-4B1F-A701-106F10DC07B2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2F-4B1F-A701-106F10DC07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</c:v>
                </c:pt>
                <c:pt idx="1">
                  <c:v>125</c:v>
                </c:pt>
                <c:pt idx="2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72F-4B1F-A701-106F10DC07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Regional Profit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07-4974-B036-18C11AE8697C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07-4974-B036-18C11AE8697C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07-4974-B036-18C11AE8697C}"/>
              </c:ext>
            </c:extLst>
          </c:dPt>
          <c:dPt>
            <c:idx val="3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07-4974-B036-18C11AE8697C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F07-4974-B036-18C11AE8697C}"/>
              </c:ext>
            </c:extLst>
          </c:dPt>
          <c:cat>
            <c:strRef>
              <c:f>Sheet1!$A$2:$A$6</c:f>
              <c:strCache>
                <c:ptCount val="5"/>
                <c:pt idx="0">
                  <c:v>South (29.6%)</c:v>
                </c:pt>
                <c:pt idx="1">
                  <c:v>East (28.2%)</c:v>
                </c:pt>
                <c:pt idx="2">
                  <c:v>Central (27.8%)</c:v>
                </c:pt>
                <c:pt idx="3">
                  <c:v>North (8.1%)</c:v>
                </c:pt>
                <c:pt idx="4">
                  <c:v>West (6.3%)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29.62</c:v>
                </c:pt>
                <c:pt idx="1">
                  <c:v>28.17</c:v>
                </c:pt>
                <c:pt idx="2">
                  <c:v>27.81</c:v>
                </c:pt>
                <c:pt idx="3">
                  <c:v>8.14</c:v>
                </c:pt>
                <c:pt idx="4">
                  <c:v>6.25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F07-4974-B036-18C11AE869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Top 10 Products by Sales (₹M)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Laptop</c:v>
                </c:pt>
                <c:pt idx="1">
                  <c:v>Smartwatch</c:v>
                </c:pt>
                <c:pt idx="2">
                  <c:v>Tablet</c:v>
                </c:pt>
                <c:pt idx="3">
                  <c:v>Table</c:v>
                </c:pt>
                <c:pt idx="4">
                  <c:v>Monitor</c:v>
                </c:pt>
                <c:pt idx="5">
                  <c:v>Wardrobe</c:v>
                </c:pt>
                <c:pt idx="6">
                  <c:v>Smartphone</c:v>
                </c:pt>
                <c:pt idx="7">
                  <c:v>Bed</c:v>
                </c:pt>
                <c:pt idx="8">
                  <c:v>Sofa</c:v>
                </c:pt>
                <c:pt idx="9">
                  <c:v>Chair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</c:v>
                </c:pt>
                <c:pt idx="1">
                  <c:v>28</c:v>
                </c:pt>
                <c:pt idx="2">
                  <c:v>27</c:v>
                </c:pt>
                <c:pt idx="3">
                  <c:v>26</c:v>
                </c:pt>
                <c:pt idx="4">
                  <c:v>26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24</c:v>
                </c:pt>
                <c:pt idx="9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5F-4147-9531-08B5D8BEFE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596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yourself, the dataset scope (3,000 orders), and what the audience will learn from this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KPI. Highlight the 22% profit margin is above industry average. Note 789 active customers across 3,000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Q4 seasonality. Highlight consistent growth trajectory. *Q2 2026 is a forecast value based on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is the top category — discuss why (high unit prices, strong demand). Recommend deeper inventory investment there. Regional split shows South &amp; East are the profit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customers are relatively balanced — no single customer dominates. Product mix is diversified; Laptop and Smartwatch lead. Opportunity: loyalty programs for top 10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these 5 recommendations. Emphasize the discount optimization and geo-targeting as quick wins. Loyalty program is a medium-term initiative.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2103120"/>
            <a:ext cx="566928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48640" y="73152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 DOT ANALYTICS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36576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0E749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2024–2026 PERFORMANCE REVIEW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749040" y="5943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749040" y="13716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749040" y="2103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3749040" y="3017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·  Data Analytics Internship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49040" y="42976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Analytics Intern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 Dot Analytics ©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1016" rtlCol="0" anchor="b"/>
          <a:lstStyle/>
          <a:p>
            <a:pPr marL="0" indent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across all orders — 2024–2026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0E7490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353312"/>
            <a:ext cx="2743200" cy="155448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16128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1161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15727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₹351M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65760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972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09728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3200400" y="1353312"/>
            <a:ext cx="2743200" cy="15544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6128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9312" y="1161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37560" y="15727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₹77M</a:t>
            </a:r>
            <a:endParaRPr lang="en-US" sz="3400" dirty="0"/>
          </a:p>
        </p:txBody>
      </p:sp>
      <p:sp>
        <p:nvSpPr>
          <p:cNvPr id="18" name="Text 14"/>
          <p:cNvSpPr/>
          <p:nvPr/>
        </p:nvSpPr>
        <p:spPr>
          <a:xfrm>
            <a:off x="3337560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Earned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72200" y="10972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109728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0D1B2A"/>
          </a:solidFill>
          <a:ln/>
        </p:spPr>
      </p:sp>
      <p:sp>
        <p:nvSpPr>
          <p:cNvPr id="21" name="Shape 17"/>
          <p:cNvSpPr/>
          <p:nvPr/>
        </p:nvSpPr>
        <p:spPr>
          <a:xfrm>
            <a:off x="6172200" y="1353312"/>
            <a:ext cx="2743200" cy="155448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161288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11112" y="1161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309360" y="15727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3400" dirty="0"/>
          </a:p>
        </p:txBody>
      </p:sp>
      <p:sp>
        <p:nvSpPr>
          <p:cNvPr id="25" name="Text 20"/>
          <p:cNvSpPr/>
          <p:nvPr/>
        </p:nvSpPr>
        <p:spPr>
          <a:xfrm>
            <a:off x="6309360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Records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22860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28600" y="306324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28" name="Shape 23"/>
          <p:cNvSpPr/>
          <p:nvPr/>
        </p:nvSpPr>
        <p:spPr>
          <a:xfrm>
            <a:off x="228600" y="3319272"/>
            <a:ext cx="2743200" cy="15544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127248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7512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65760" y="3538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22.04%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365760" y="4297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~18%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20040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0" y="306324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0E7490"/>
          </a:solidFill>
          <a:ln/>
        </p:spPr>
      </p:sp>
      <p:sp>
        <p:nvSpPr>
          <p:cNvPr id="35" name="Shape 29"/>
          <p:cNvSpPr/>
          <p:nvPr/>
        </p:nvSpPr>
        <p:spPr>
          <a:xfrm>
            <a:off x="3200400" y="3319272"/>
            <a:ext cx="2743200" cy="155448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127248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639312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3337560" y="3538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₹1.21L</a:t>
            </a:r>
            <a:endParaRPr lang="en-US" sz="3400" dirty="0"/>
          </a:p>
        </p:txBody>
      </p:sp>
      <p:sp>
        <p:nvSpPr>
          <p:cNvPr id="39" name="Text 32"/>
          <p:cNvSpPr/>
          <p:nvPr/>
        </p:nvSpPr>
        <p:spPr>
          <a:xfrm>
            <a:off x="3337560" y="4297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17220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172200" y="306324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1A2F4A"/>
          </a:solidFill>
          <a:ln/>
        </p:spPr>
      </p:sp>
      <p:sp>
        <p:nvSpPr>
          <p:cNvPr id="42" name="Shape 35"/>
          <p:cNvSpPr/>
          <p:nvPr/>
        </p:nvSpPr>
        <p:spPr>
          <a:xfrm>
            <a:off x="6172200" y="3319272"/>
            <a:ext cx="2743200" cy="155448"/>
          </a:xfrm>
          <a:prstGeom prst="rect">
            <a:avLst/>
          </a:prstGeom>
          <a:solidFill>
            <a:srgbClr val="1A2F4A"/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127248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611112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6309360" y="3538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789</a:t>
            </a:r>
            <a:endParaRPr lang="en-US" sz="3400" dirty="0"/>
          </a:p>
        </p:txBody>
      </p:sp>
      <p:sp>
        <p:nvSpPr>
          <p:cNvPr id="46" name="Text 38"/>
          <p:cNvSpPr/>
          <p:nvPr/>
        </p:nvSpPr>
        <p:spPr>
          <a:xfrm>
            <a:off x="6309360" y="4297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Buyers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  &amp;  FORECAST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5156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11064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 Peak Quarter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139903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consistently outperforms — holiday-season demand spike.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2350008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24048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YoY Growth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26974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total sales ~3% higher than 2024 baseline.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3648456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37033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Forecast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399592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projected at ₹41M based on trend extrapolation.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  &amp;  REGIONAL SPLIT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440680" y="1005840"/>
          <a:ext cx="3474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60520"/>
            <a:ext cx="8641080" cy="749808"/>
          </a:xfrm>
          <a:prstGeom prst="roundRect">
            <a:avLst>
              <a:gd name="adj" fmla="val 12195"/>
            </a:avLst>
          </a:prstGeom>
          <a:solidFill>
            <a:srgbClr val="1A2F4A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160520"/>
            <a:ext cx="8275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Electronics dominates with 45% of total revenue. South &amp; East regions together account for nearly 58% of total profit — priority geographies for future investment.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CUSTOMERS  &amp;  BEST-SELLING PRODUCTS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4114800" cy="285292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Customer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Sales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#1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Aman Joshi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₹1.7M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#2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Pooja Dubey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₹1.6M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#3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Meera Mishra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₹1.5M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#4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Arjun Patel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₹1.5M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#5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Kavya Bansal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₹1.5M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Sales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0" y="1005840"/>
          <a:ext cx="42976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" y="0"/>
            <a:ext cx="4297680" cy="51435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417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drives 45% of total revenue — highest category.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1764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&amp; East regions contribute 58% of total profit.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28600" y="2112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is consistently the strongest quarter YoY.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24597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at 22% exceeds typical industry benchmarks.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2807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represent a significant share of repeat business.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3154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alone accounts for ₹63M in sales — #1 state.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3502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Smartwatch &amp; Tablet are the top 3 revenue products.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3849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discount on some orders — opportunity to optimize discounting.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" y="4197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of ₹1.21L reflects premium product mix.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4544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orders with 789 unique customers = high repeat purchase rate.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4223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46304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1527048"/>
            <a:ext cx="27432" cy="4389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1453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Electronics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93792" y="1728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more inventory &amp; marketing budget to Electronics — it's your margin engine.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167128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4223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21284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0640" y="2276856"/>
            <a:ext cx="27432" cy="4389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5193792" y="2203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Geo-Target South &amp; East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93792" y="24780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regional campaigns in South &amp; East; they yield the highest profit per order.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2916936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4223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296265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20640" y="3026664"/>
            <a:ext cx="27432" cy="4389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8" name="Text 26"/>
          <p:cNvSpPr/>
          <p:nvPr/>
        </p:nvSpPr>
        <p:spPr>
          <a:xfrm>
            <a:off x="5193792" y="2953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Readiness Program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93792" y="3227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inventory and logistics 6–8 weeks before Q4 to capture peak demand.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666744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4223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71246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0640" y="3776472"/>
            <a:ext cx="27432" cy="4389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3" name="Text 31"/>
          <p:cNvSpPr/>
          <p:nvPr/>
        </p:nvSpPr>
        <p:spPr>
          <a:xfrm>
            <a:off x="5193792" y="3703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Discount Strategy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93792" y="3977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≤15% to protect margins; analyze which SKUs are over-discounted.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4416552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4223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446227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20640" y="4526280"/>
            <a:ext cx="27432" cy="4389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8" name="Text 36"/>
          <p:cNvSpPr/>
          <p:nvPr/>
        </p:nvSpPr>
        <p:spPr>
          <a:xfrm>
            <a:off x="5193792" y="4453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Initiative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93792" y="4727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 tier for top 50 customers — they drive outsized revenue.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 Dot Analytics © 2026  ·  Sales &amp; Profit Dashboard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620</Words>
  <Application>Microsoft Office PowerPoint</Application>
  <PresentationFormat>On-screen Show (16:9)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Profit Executive Summary</dc:title>
  <dc:subject>PptxGenJS Presentation</dc:subject>
  <dc:creator>Insta Dot Analytics</dc:creator>
  <cp:lastModifiedBy>Sapan jaiswani</cp:lastModifiedBy>
  <cp:revision>2</cp:revision>
  <dcterms:created xsi:type="dcterms:W3CDTF">2026-06-22T13:19:27Z</dcterms:created>
  <dcterms:modified xsi:type="dcterms:W3CDTF">2026-06-22T13:31:33Z</dcterms:modified>
</cp:coreProperties>
</file>